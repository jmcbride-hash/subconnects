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024360" y="0"/>
            <a:ext cx="137160" cy="6858000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0" y="1463040"/>
            <a:ext cx="1005840" cy="1005840"/>
          </a:xfrm>
          <a:prstGeom prst="roundRect">
            <a:avLst>
              <a:gd name="adj" fmla="val 16364"/>
            </a:avLst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7784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914400" y="2606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8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VERIFIED WORKFORCE NETWORK FOR ROOFING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532120" y="3566160"/>
            <a:ext cx="1097280" cy="36576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794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Progress Review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" y="4617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we've decided, what we've built, what's next.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51960" y="5440680"/>
            <a:ext cx="365760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6235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PREPARED FOR EXECUTIVE TEAM REVIEW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SUBCONNECTS.COM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POSITIONING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SubConnects is.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And, just as importantly, what it isn't.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71500" y="2606040"/>
            <a:ext cx="3520440" cy="16916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1500" y="2606040"/>
            <a:ext cx="3520440" cy="73152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" y="28346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20540" y="2606040"/>
            <a:ext cx="3520440" cy="16916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20540" y="2606040"/>
            <a:ext cx="3520440" cy="73152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0580" y="28346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Job Board.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069580" y="2606040"/>
            <a:ext cx="3520440" cy="16916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9580" y="2606040"/>
            <a:ext cx="3520440" cy="73152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89620" y="28346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 a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Staffing Company.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14400" y="47548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It's the </a:t>
            </a:r>
            <a:pPr algn="ctr" indent="0" marL="0">
              <a:buNone/>
            </a:pPr>
            <a:r>
              <a:rPr lang="en-US" sz="1700" b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 layer</a:t>
            </a:r>
            <a:pPr algn="ctr" indent="0" marL="0">
              <a:buNone/>
            </a:pPr>
            <a:r>
              <a:rPr lang="en-US" sz="17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between contractors and labor-only roofing crews — built on verification, accountability, and performance.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 POSITIONING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DELIVERABLES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we've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decided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so far.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94360" y="2194560"/>
            <a:ext cx="5349240" cy="160020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60120" y="2578608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2759659"/>
            <a:ext cx="460858" cy="46085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65960" y="24688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Model v0.2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1965960" y="29077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tables. All 11 open questions resolved.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6596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docs/data-model.md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17920" y="2194560"/>
            <a:ext cx="5349240" cy="160020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83680" y="2578608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4731" y="2759659"/>
            <a:ext cx="460858" cy="46085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89520" y="24688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User Flows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7589520" y="29077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Onboarding, marketplace loop, admin, billing.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589520" y="33832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docs/flows.md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94360" y="4023360"/>
            <a:ext cx="5349240" cy="160020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960120" y="4407408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171" y="4588459"/>
            <a:ext cx="460858" cy="46085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965960" y="42976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 Stack</a:t>
            </a:r>
            <a:endParaRPr lang="en-US" sz="2000" dirty="0"/>
          </a:p>
        </p:txBody>
      </p:sp>
      <p:sp>
        <p:nvSpPr>
          <p:cNvPr id="24" name="Text 19"/>
          <p:cNvSpPr/>
          <p:nvPr/>
        </p:nvSpPr>
        <p:spPr>
          <a:xfrm>
            <a:off x="1965960" y="47365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Next.js · Supabase · Drizzle · Stripe · S3.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965960" y="5212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docs/stack.md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217920" y="4023360"/>
            <a:ext cx="5349240" cy="160020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583680" y="4407408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731" y="4588459"/>
            <a:ext cx="460858" cy="46085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589520" y="4297680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Decisions</a:t>
            </a:r>
            <a:endParaRPr lang="en-US" sz="2000" dirty="0"/>
          </a:p>
        </p:txBody>
      </p:sp>
      <p:sp>
        <p:nvSpPr>
          <p:cNvPr id="30" name="Text 24"/>
          <p:cNvSpPr/>
          <p:nvPr/>
        </p:nvSpPr>
        <p:spPr>
          <a:xfrm>
            <a:off x="7589520" y="4736592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resolved with rationale.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7589520" y="5212080"/>
            <a:ext cx="3703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docs/decisions.md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 DELIVERABLES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MVP 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we're building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first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5349240" cy="347472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2148840"/>
            <a:ext cx="73152" cy="3474720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377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SCOPE  ·  STAGE 0/1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283464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profiles  ·  contractor + sub crew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by system, location, verification status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messaging tied to an inquiry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verification queue (insurance, license, references)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Engagements with mutual confirmation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Two-way public reviews after job completion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$299/mo contractor subscription via Stripe ACH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●"/>
            </a:pPr>
            <a:r>
              <a:rPr lang="en-US" sz="13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Web-responsive only  ·  no native app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349240" cy="347472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2148840"/>
            <a:ext cx="73152" cy="3474720"/>
          </a:xfrm>
          <a:prstGeom prst="rect">
            <a:avLst/>
          </a:prstGeom>
          <a:solidFill>
            <a:srgbClr val="2A3B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37744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DEFERRED  ·  STAGE 2 AND BEYOND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834640"/>
            <a:ext cx="4709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payments  ·  SubConnects Pay (Stage 4)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Pay financing (Stage 5)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Tiered skill badges  ·  Bronze/Silver/Gold/Platinum (Stage 2)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 app  ·  iOS / Android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matching / recommendations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metro  ·  national rollout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Sponsored placement  ·  featured listings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○"/>
            </a:pPr>
            <a:r>
              <a:rPr lang="en-US" sz="13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Multi-trade  ·  siding / gutters / solar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78815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Narrow before broad. Earn the right to add complexity.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 MVP SCOPE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PRICING  ·  TARGETS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$299/month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And free.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00200" y="2103120"/>
            <a:ext cx="4297680" cy="21488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00200" y="2103120"/>
            <a:ext cx="4297680" cy="82296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6596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965960" y="2651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$299</a:t>
            </a:r>
            <a:pPr indent="0" marL="0">
              <a:buNone/>
            </a:pPr>
            <a:r>
              <a:rPr lang="en-US" sz="1700" dirty="0">
                <a:solidFill>
                  <a:srgbClr val="C5CC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/ month</a:t>
            </a:r>
            <a:endParaRPr lang="en-US" sz="5800" dirty="0"/>
          </a:p>
        </p:txBody>
      </p:sp>
      <p:sp>
        <p:nvSpPr>
          <p:cNvPr id="12" name="Text 10"/>
          <p:cNvSpPr/>
          <p:nvPr/>
        </p:nvSpPr>
        <p:spPr>
          <a:xfrm>
            <a:off x="1965960" y="3749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access · unlimited outreach · concierge onboarding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4297680" cy="21488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103120"/>
            <a:ext cx="4297680" cy="82296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 CREW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29400" y="2651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FREE</a:t>
            </a:r>
            <a:endParaRPr lang="en-US" sz="5800" dirty="0"/>
          </a:p>
        </p:txBody>
      </p:sp>
      <p:sp>
        <p:nvSpPr>
          <p:cNvPr id="17" name="Text 15"/>
          <p:cNvSpPr/>
          <p:nvPr/>
        </p:nvSpPr>
        <p:spPr>
          <a:xfrm>
            <a:off x="6629400" y="374904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profile · inquiries · reputation over time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 TARGETS  ·  END OF MONTH 6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80160" y="4937760"/>
            <a:ext cx="3017520" cy="10972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6304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100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1463040" y="5596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Paying contractors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0" y="4937760"/>
            <a:ext cx="3017520" cy="10972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90%+</a:t>
            </a:r>
            <a:endParaRPr lang="en-US" sz="3400" dirty="0"/>
          </a:p>
        </p:txBody>
      </p:sp>
      <p:sp>
        <p:nvSpPr>
          <p:cNvPr id="24" name="Text 22"/>
          <p:cNvSpPr/>
          <p:nvPr/>
        </p:nvSpPr>
        <p:spPr>
          <a:xfrm>
            <a:off x="4754880" y="5596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retention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4937760"/>
            <a:ext cx="3017520" cy="10972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4672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150+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8046720" y="5596128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subs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 PRICING  ·  TARGETS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DATA MODEL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tables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One model.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Grouped by purpose. Designed so credentialing and payments slot in later without a rewrite.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" y="2423160"/>
            <a:ext cx="2194560" cy="36118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" y="2423160"/>
            <a:ext cx="219456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" y="26426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" y="2935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tables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466344" y="3447288"/>
            <a:ext cx="1792224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" y="3593592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companies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contractor_profiles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sub_profiles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memberships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624328" y="2423160"/>
            <a:ext cx="2194560" cy="36118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24328" y="2423160"/>
            <a:ext cx="219456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25496" y="26426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825496" y="2935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tables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2825496" y="3447288"/>
            <a:ext cx="1792224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25496" y="3593592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inquiries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83480" y="2423160"/>
            <a:ext cx="2194560" cy="36118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83480" y="2423160"/>
            <a:ext cx="219456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6426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84648" y="2935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tables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5184648" y="3447288"/>
            <a:ext cx="1792224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84648" y="3593592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engagements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disputes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342632" y="2423160"/>
            <a:ext cx="2194560" cy="36118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42632" y="2423160"/>
            <a:ext cx="219456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43800" y="26426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43800" y="2935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tables</a:t>
            </a:r>
            <a:endParaRPr lang="en-US" sz="3000" dirty="0"/>
          </a:p>
        </p:txBody>
      </p:sp>
      <p:sp>
        <p:nvSpPr>
          <p:cNvPr id="31" name="Shape 29"/>
          <p:cNvSpPr/>
          <p:nvPr/>
        </p:nvSpPr>
        <p:spPr>
          <a:xfrm>
            <a:off x="7543800" y="3447288"/>
            <a:ext cx="1792224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43800" y="3593592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audit_log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701784" y="2423160"/>
            <a:ext cx="2194560" cy="36118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01784" y="2423160"/>
            <a:ext cx="219456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902952" y="2642616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902952" y="2935224"/>
            <a:ext cx="1792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8B96A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 tables</a:t>
            </a:r>
            <a:endParaRPr lang="en-US" sz="3000" dirty="0"/>
          </a:p>
        </p:txBody>
      </p:sp>
      <p:sp>
        <p:nvSpPr>
          <p:cNvPr id="37" name="Shape 35"/>
          <p:cNvSpPr/>
          <p:nvPr/>
        </p:nvSpPr>
        <p:spPr>
          <a:xfrm>
            <a:off x="9902952" y="3447288"/>
            <a:ext cx="1792224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02952" y="3593592"/>
            <a:ext cx="17922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metros</a:t>
            </a:r>
            <a:endParaRPr lang="en-US" sz="10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dirty="0">
                <a:solidFill>
                  <a:srgbClr val="C5CC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roofing_systems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 DATA MODEL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CREDENTIAL EXTENSIBILITY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table.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 to grow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Today's verification fields and tomorrow's credential tiers share the same shape.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2468880"/>
            <a:ext cx="4754880" cy="347472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2468880"/>
            <a:ext cx="475488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724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 ·  STAGE 0/1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41732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verifications.kind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417320" y="361188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36118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BC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INSURANCE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3611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COI verified against carrier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417320" y="425196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17320" y="42519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BC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LICENSE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3240" y="42519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 against state registry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417320" y="4892040"/>
            <a:ext cx="1554480" cy="411480"/>
          </a:xfrm>
          <a:prstGeom prst="roundRect">
            <a:avLst>
              <a:gd name="adj" fmla="val 17778"/>
            </a:avLst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4892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BC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63240" y="4892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phone-call verification</a:t>
            </a:r>
            <a:endParaRPr lang="en-US" sz="12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3977640"/>
            <a:ext cx="457200" cy="4572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6355080" y="2468880"/>
            <a:ext cx="4754880" cy="347472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55080" y="2468880"/>
            <a:ext cx="4754880" cy="5486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20840" y="2697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TOMORROW  ·  STAGE 2+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720840" y="30175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6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verifications.kind  +  metadata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20840" y="361188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20840" y="361188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BC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SYSTEM_BADGE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732520" y="36118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Per-system: TPO, EPDM, BUR, ...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720840" y="425196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20840" y="425196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BC0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TIER_ASSESSMENT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8732520" y="425196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Bronze · Silver · Gold · Platinum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720840" y="53949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schema rewrite. Same table, new enum values.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 CREDENTIAL EXTENSIBILITY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 USER FLOWS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marketplace loop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dollar this platform makes flows through these six steps.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" y="2606040"/>
            <a:ext cx="1627632" cy="26060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07008" y="2441448"/>
            <a:ext cx="329184" cy="329184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60120" y="2926080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1171" y="3107131"/>
            <a:ext cx="460858" cy="46085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49224" y="38862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4944" y="429768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Verify identity, license, COI, references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416" y="3781044"/>
            <a:ext cx="256032" cy="256032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2441448" y="2606040"/>
            <a:ext cx="1627632" cy="26060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090672" y="2441448"/>
            <a:ext cx="329184" cy="329184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090672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2843784" y="2926080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24835" y="3107131"/>
            <a:ext cx="460858" cy="46085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532888" y="38862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Search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2578608" y="429768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 by system, location, verified status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3781044"/>
            <a:ext cx="256032" cy="25603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325112" y="2606040"/>
            <a:ext cx="1627632" cy="26060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4974336" y="2441448"/>
            <a:ext cx="329184" cy="329184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4974336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4727448" y="2926080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499" y="3107131"/>
            <a:ext cx="460858" cy="46085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416552" y="38862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Inquire</a:t>
            </a:r>
            <a:endParaRPr lang="en-US" sz="1600" dirty="0"/>
          </a:p>
        </p:txBody>
      </p:sp>
      <p:sp>
        <p:nvSpPr>
          <p:cNvPr id="31" name="Text 24"/>
          <p:cNvSpPr/>
          <p:nvPr/>
        </p:nvSpPr>
        <p:spPr>
          <a:xfrm>
            <a:off x="4462272" y="429768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inquiry → sub's inbox</a:t>
            </a:r>
            <a:endParaRPr lang="en-US" sz="10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2744" y="3781044"/>
            <a:ext cx="256032" cy="256032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6208776" y="2606040"/>
            <a:ext cx="1627632" cy="26060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858000" y="2441448"/>
            <a:ext cx="329184" cy="329184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858000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Shape 28"/>
          <p:cNvSpPr/>
          <p:nvPr/>
        </p:nvSpPr>
        <p:spPr>
          <a:xfrm>
            <a:off x="6611112" y="2926080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2163" y="3107131"/>
            <a:ext cx="460858" cy="460858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300216" y="38862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Converse</a:t>
            </a:r>
            <a:endParaRPr lang="en-US" sz="1600" dirty="0"/>
          </a:p>
        </p:txBody>
      </p:sp>
      <p:sp>
        <p:nvSpPr>
          <p:cNvPr id="39" name="Text 30"/>
          <p:cNvSpPr/>
          <p:nvPr/>
        </p:nvSpPr>
        <p:spPr>
          <a:xfrm>
            <a:off x="6345936" y="429768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Threaded messaging with attachments</a:t>
            </a:r>
            <a:endParaRPr lang="en-US" sz="10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36408" y="3781044"/>
            <a:ext cx="256032" cy="256032"/>
          </a:xfrm>
          <a:prstGeom prst="rect">
            <a:avLst/>
          </a:prstGeom>
        </p:spPr>
      </p:pic>
      <p:sp>
        <p:nvSpPr>
          <p:cNvPr id="41" name="Shape 31"/>
          <p:cNvSpPr/>
          <p:nvPr/>
        </p:nvSpPr>
        <p:spPr>
          <a:xfrm>
            <a:off x="8092440" y="2606040"/>
            <a:ext cx="1627632" cy="26060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8741664" y="2441448"/>
            <a:ext cx="329184" cy="329184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741664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44" name="Shape 34"/>
          <p:cNvSpPr/>
          <p:nvPr/>
        </p:nvSpPr>
        <p:spPr>
          <a:xfrm>
            <a:off x="8494776" y="2926080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5827" y="3107131"/>
            <a:ext cx="460858" cy="460858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183880" y="38862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Engage</a:t>
            </a:r>
            <a:endParaRPr lang="en-US" sz="1600" dirty="0"/>
          </a:p>
        </p:txBody>
      </p:sp>
      <p:sp>
        <p:nvSpPr>
          <p:cNvPr id="47" name="Text 36"/>
          <p:cNvSpPr/>
          <p:nvPr/>
        </p:nvSpPr>
        <p:spPr>
          <a:xfrm>
            <a:off x="8229600" y="429768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Mutual confirmation → ACTIVE</a:t>
            </a:r>
            <a:endParaRPr lang="en-US" sz="1000" dirty="0"/>
          </a:p>
        </p:txBody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20072" y="3781044"/>
            <a:ext cx="256032" cy="256032"/>
          </a:xfrm>
          <a:prstGeom prst="rect">
            <a:avLst/>
          </a:prstGeom>
        </p:spPr>
      </p:pic>
      <p:sp>
        <p:nvSpPr>
          <p:cNvPr id="49" name="Shape 37"/>
          <p:cNvSpPr/>
          <p:nvPr/>
        </p:nvSpPr>
        <p:spPr>
          <a:xfrm>
            <a:off x="9976104" y="2606040"/>
            <a:ext cx="1627632" cy="260604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50" name="Shape 38"/>
          <p:cNvSpPr/>
          <p:nvPr/>
        </p:nvSpPr>
        <p:spPr>
          <a:xfrm>
            <a:off x="10625328" y="2441448"/>
            <a:ext cx="329184" cy="329184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1062532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400" dirty="0"/>
          </a:p>
        </p:txBody>
      </p:sp>
      <p:sp>
        <p:nvSpPr>
          <p:cNvPr id="52" name="Shape 40"/>
          <p:cNvSpPr/>
          <p:nvPr/>
        </p:nvSpPr>
        <p:spPr>
          <a:xfrm>
            <a:off x="10378440" y="2926080"/>
            <a:ext cx="822960" cy="82296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59491" y="3107131"/>
            <a:ext cx="460858" cy="460858"/>
          </a:xfrm>
          <a:prstGeom prst="rect">
            <a:avLst/>
          </a:prstGeom>
        </p:spPr>
      </p:pic>
      <p:sp>
        <p:nvSpPr>
          <p:cNvPr id="54" name="Text 41"/>
          <p:cNvSpPr/>
          <p:nvPr/>
        </p:nvSpPr>
        <p:spPr>
          <a:xfrm>
            <a:off x="10067544" y="3886200"/>
            <a:ext cx="14447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</a:t>
            </a:r>
            <a:endParaRPr lang="en-US" sz="1600" dirty="0"/>
          </a:p>
        </p:txBody>
      </p:sp>
      <p:sp>
        <p:nvSpPr>
          <p:cNvPr id="55" name="Text 42"/>
          <p:cNvSpPr/>
          <p:nvPr/>
        </p:nvSpPr>
        <p:spPr>
          <a:xfrm>
            <a:off x="10113264" y="4297680"/>
            <a:ext cx="13533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Two-way public after completion</a:t>
            </a:r>
            <a:endParaRPr lang="en-US" sz="1000" dirty="0"/>
          </a:p>
        </p:txBody>
      </p:sp>
      <p:sp>
        <p:nvSpPr>
          <p:cNvPr id="56" name="Text 43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verification </a:t>
            </a:r>
            <a:pPr algn="ctr"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in parallel through every onboarding flow.   </a:t>
            </a:r>
            <a:pPr algn="ctr" indent="0" marL="0">
              <a:buNone/>
            </a:pPr>
            <a:r>
              <a:rPr lang="en-US" sz="1200" b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Billing </a:t>
            </a:r>
            <a:pPr algn="ctr"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gates new outreach when subscription is past due.</a:t>
            </a:r>
            <a:endParaRPr lang="en-US" sz="1200" dirty="0"/>
          </a:p>
        </p:txBody>
      </p:sp>
      <p:sp>
        <p:nvSpPr>
          <p:cNvPr id="57" name="Shape 44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58" name="Text 4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59" name="Text 46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 USER FLOWS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 TECH STACK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 stack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 Standard parts.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88620" y="2103120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7220" y="2322576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" y="2157984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Next.js + TypeScript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4108" y="2395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framework  ·  one repo for marketing + product + admin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95060" y="2103120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3660" y="2322576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0548" y="2157984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Vercel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670548" y="239572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 ·  zero-config deploys, preview URLs, daily cron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8620" y="2779776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7220" y="2999232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" y="2834640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 Postgres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4108" y="30723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database  ·  free at Stage 0; ~$25/mo at Stage 1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95060" y="2779776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23660" y="2999232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0548" y="2834640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Supabase Auth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670548" y="3072384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Sessions  ·  JWT, email + magic link + OAuth ready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8620" y="3456432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7220" y="3675888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4108" y="3511296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Drizzle ORM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64108" y="37490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SQL-fluent queries  ·  handles the joins our search needs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5060" y="3456432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23660" y="3675888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0548" y="3511296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Stripe Billing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670548" y="374904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 subscription  ·  webhook-driven state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88620" y="4133088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7220" y="4352544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4108" y="41879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S3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64108" y="44256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storage  ·  COIs, licenses, message attachments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95060" y="4133088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23660" y="4352544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0548" y="4187952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Resend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670548" y="4425696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Transactional email  ·  notifications + verification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8620" y="4809744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7220" y="5029200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64108" y="4864608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Mapbox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64108" y="51023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Geocoding + service-area maps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95060" y="4809744"/>
            <a:ext cx="5577840" cy="566928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23660" y="5029200"/>
            <a:ext cx="128016" cy="128016"/>
          </a:xfrm>
          <a:prstGeom prst="ellipse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0548" y="4864608"/>
            <a:ext cx="49377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Sentry + PostHog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670548" y="51023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 monitoring + product analytics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8640" y="553212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2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run-rate  ·  </a:t>
            </a:r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~$0 at Stage 0</a:t>
            </a:r>
            <a:pPr algn="ctr" indent="0" marL="0">
              <a:buNone/>
            </a:pPr>
            <a:r>
              <a:rPr lang="en-US" sz="12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→    </a:t>
            </a:r>
            <a:pPr algn="ctr" indent="0" marL="0">
              <a:buNone/>
            </a:pPr>
            <a:r>
              <a:rPr lang="en-US" sz="1200" b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~$100-200/mo at Stage 1</a:t>
            </a:r>
            <a:pPr algn="ctr" indent="0" marL="0">
              <a:buNone/>
            </a:pPr>
            <a:r>
              <a:rPr lang="en-US" sz="120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excluding Stripe processing fees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 TECH STACK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 OPERATING PRINCIPLES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Discipline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is the strategy.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594360" y="2148840"/>
            <a:ext cx="5349240" cy="1783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377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937760" y="2423160"/>
            <a:ext cx="685800" cy="68580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636" y="2574036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" y="27432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Liquidity before features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14400" y="32278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1 only metric that matters: can a contractor consistently find verified subs in the launch market?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17920" y="2148840"/>
            <a:ext cx="5349240" cy="1783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23774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10561320" y="2423160"/>
            <a:ext cx="685800" cy="68580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2196" y="2574036"/>
            <a:ext cx="384048" cy="38404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537960" y="274320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Narrow before broad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6537960" y="32278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metro. One trade. One pricing model. Construction marketplaces are won through density, not breadth.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94360" y="4160520"/>
            <a:ext cx="5349240" cy="1783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" y="4389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4937760" y="4434840"/>
            <a:ext cx="685800" cy="68580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8636" y="4585716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47548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Earn the right to add complexity</a:t>
            </a:r>
            <a:endParaRPr lang="en-US" sz="1800" dirty="0"/>
          </a:p>
        </p:txBody>
      </p:sp>
      <p:sp>
        <p:nvSpPr>
          <p:cNvPr id="25" name="Text 20"/>
          <p:cNvSpPr/>
          <p:nvPr/>
        </p:nvSpPr>
        <p:spPr>
          <a:xfrm>
            <a:off x="914400" y="523951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feature unlocks via measurable milestones — never because it sounds exciting.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6217920" y="4160520"/>
            <a:ext cx="5349240" cy="1783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537960" y="43891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Shape 23"/>
          <p:cNvSpPr/>
          <p:nvPr/>
        </p:nvSpPr>
        <p:spPr>
          <a:xfrm>
            <a:off x="10561320" y="4434840"/>
            <a:ext cx="685800" cy="685800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2196" y="4585716"/>
            <a:ext cx="384048" cy="38404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537960" y="475488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 discipline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6537960" y="523951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Liquidity, trust, verification, density, retention. Not overbuilt software or premature fintech.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 OPERATING PRINCIPLES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 OUT OF 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we're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refusing to build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 Stages 0-1. Each item slots into a later stage, on its earned timeline.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423160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78608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Embedded payments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65760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4 · SubConnects Pay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2423160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578608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03720" y="24231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Pay financing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281160" y="24231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5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" y="3227832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8328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80160" y="32278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Native mobile app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3657600" y="3227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2/3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217920" y="3227832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6520" y="33832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903720" y="3227832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matching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9281160" y="3227832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Post-validation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" y="4032504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18795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280160" y="40325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Skill badges / tiers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657600" y="4032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4032504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4187952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903720" y="403250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Multi-trade expansion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9281160" y="4032504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3+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94360" y="4837176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992624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80160" y="483717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metro</a:t>
            </a:r>
            <a:endParaRPr lang="en-US" sz="1400" dirty="0"/>
          </a:p>
        </p:txBody>
      </p:sp>
      <p:sp>
        <p:nvSpPr>
          <p:cNvPr id="36" name="Text 27"/>
          <p:cNvSpPr/>
          <p:nvPr/>
        </p:nvSpPr>
        <p:spPr>
          <a:xfrm>
            <a:off x="3657600" y="48371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</a:t>
            </a:r>
            <a:endParaRPr lang="en-US" sz="1100" dirty="0"/>
          </a:p>
        </p:txBody>
      </p:sp>
      <p:sp>
        <p:nvSpPr>
          <p:cNvPr id="37" name="Shape 28"/>
          <p:cNvSpPr/>
          <p:nvPr/>
        </p:nvSpPr>
        <p:spPr>
          <a:xfrm>
            <a:off x="6217920" y="4837176"/>
            <a:ext cx="5349240" cy="64008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6520" y="4992624"/>
            <a:ext cx="320040" cy="3200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6903720" y="4837176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Sponsored placement</a:t>
            </a:r>
            <a:endParaRPr lang="en-US" sz="1400" dirty="0"/>
          </a:p>
        </p:txBody>
      </p:sp>
      <p:sp>
        <p:nvSpPr>
          <p:cNvPr id="40" name="Text 30"/>
          <p:cNvSpPr/>
          <p:nvPr/>
        </p:nvSpPr>
        <p:spPr>
          <a:xfrm>
            <a:off x="9281160" y="4837176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</a:t>
            </a:r>
            <a:endParaRPr lang="en-US" sz="1100" dirty="0"/>
          </a:p>
        </p:txBody>
      </p:sp>
      <p:sp>
        <p:nvSpPr>
          <p:cNvPr id="41" name="Text 31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Premature fintech destroys marketplaces.</a:t>
            </a:r>
            <a:endParaRPr lang="en-US" sz="1600" dirty="0"/>
          </a:p>
        </p:txBody>
      </p:sp>
      <p:sp>
        <p:nvSpPr>
          <p:cNvPr id="42" name="Shape 32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 OUT OF SCOPE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 ROADMAP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path to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Stage 5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stage unlocks only after the prior layer is proven. We are entering Stage 0 now.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54380" y="2971800"/>
            <a:ext cx="10652760" cy="0"/>
          </a:xfrm>
          <a:prstGeom prst="line">
            <a:avLst/>
          </a:prstGeom>
          <a:noFill/>
          <a:ln w="12700">
            <a:solidFill>
              <a:srgbClr val="2A3B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8700" y="2788920"/>
            <a:ext cx="365760" cy="365760"/>
          </a:xfrm>
          <a:prstGeom prst="ellipse">
            <a:avLst/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870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97180" y="3337560"/>
            <a:ext cx="1828800" cy="2423160"/>
          </a:xfrm>
          <a:prstGeom prst="rect">
            <a:avLst/>
          </a:prstGeom>
          <a:solidFill>
            <a:srgbClr val="1F3056"/>
          </a:solidFill>
          <a:ln w="9525">
            <a:solidFill>
              <a:srgbClr val="F8BC0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" y="34472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6908" y="36576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Pre-launch foundation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06908" y="4297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 to 0 mo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4340" y="4617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 50 verified subs + 15-20 contractors. Build MVP.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6908" y="5440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◄ YOU ARE HERE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976372" y="2788920"/>
            <a:ext cx="365760" cy="365760"/>
          </a:xfrm>
          <a:prstGeom prst="ellipse">
            <a:avLst/>
          </a:prstGeom>
          <a:solidFill>
            <a:srgbClr val="1F3056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6372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244852" y="3337560"/>
            <a:ext cx="1828800" cy="242316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54580" y="34472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54580" y="36576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launch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354580" y="4297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0–6 mo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82012" y="4617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$299/mo contractor sub. Prove 100 paying contractors and 90%+ retention.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24044" y="2788920"/>
            <a:ext cx="365760" cy="365760"/>
          </a:xfrm>
          <a:prstGeom prst="ellipse">
            <a:avLst/>
          </a:prstGeom>
          <a:solidFill>
            <a:srgbClr val="1F3056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24044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192524" y="3337560"/>
            <a:ext cx="1828800" cy="242316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02252" y="34472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02252" y="36576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Density &amp; tiering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02252" y="4297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6–12 mo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29684" y="4617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Tiered pricing. Premium sub visibility. Deeper verification + skill badges.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871716" y="2788920"/>
            <a:ext cx="365760" cy="365760"/>
          </a:xfrm>
          <a:prstGeom prst="ellipse">
            <a:avLst/>
          </a:prstGeom>
          <a:solidFill>
            <a:srgbClr val="1F3056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1716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140196" y="3337560"/>
            <a:ext cx="1828800" cy="242316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9924" y="34472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49924" y="36576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Second metro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249924" y="4297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12–18 mo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77356" y="4617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the playbook. Prove the system replicates beyond the launch market.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819388" y="2788920"/>
            <a:ext cx="365760" cy="365760"/>
          </a:xfrm>
          <a:prstGeom prst="ellipse">
            <a:avLst/>
          </a:prstGeom>
          <a:solidFill>
            <a:srgbClr val="1F3056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19388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87868" y="3337560"/>
            <a:ext cx="1828800" cy="242316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197596" y="34472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4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97596" y="36576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SubConnects Pay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197596" y="4297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18–24 mo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225028" y="4617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ACH payment rails between contractors and subs. Lien waivers. Compliance.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0767060" y="2788920"/>
            <a:ext cx="365760" cy="365760"/>
          </a:xfrm>
          <a:prstGeom prst="ellipse">
            <a:avLst/>
          </a:prstGeom>
          <a:solidFill>
            <a:srgbClr val="1F3056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7670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035540" y="3337560"/>
            <a:ext cx="1828800" cy="2423160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145268" y="3447288"/>
            <a:ext cx="16093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STAGE 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145268" y="365760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Pay + national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10145268" y="429768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Year 2 to 5+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10172700" y="4617720"/>
            <a:ext cx="1554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Embedded financing. Multi-metro. The verified workforce infrastructure layer.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 ROADMAP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8BC01"/>
          </a:solidFill>
          <a:ln w="12700">
            <a:solidFill>
              <a:srgbClr val="F8BC0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45720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SUB CONNECTS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29000" y="530352"/>
            <a:ext cx="0" cy="237744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1880" y="45720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3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  NEXT STEPS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05156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do </a:t>
            </a:r>
            <a:pPr indent="0" marL="0">
              <a:buNone/>
            </a:pPr>
            <a:r>
              <a:rPr lang="en-US" sz="3600" b="1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10698480" cy="603504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103120"/>
            <a:ext cx="731520" cy="60350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103120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645920" y="2203704"/>
            <a:ext cx="402336" cy="402336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4434" y="2292218"/>
            <a:ext cx="225308" cy="22530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194560" y="2176272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up accounts + repo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194560" y="2423160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subconnects.com domain, Vercel, Supabase, Stripe (test), AWS, Resend, Mapbox, Sentry, PostHog, GitHub.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31520" y="2816352"/>
            <a:ext cx="10698480" cy="603504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31520" y="2816352"/>
            <a:ext cx="731520" cy="60350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" y="2816352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700" dirty="0"/>
          </a:p>
        </p:txBody>
      </p:sp>
      <p:sp>
        <p:nvSpPr>
          <p:cNvPr id="18" name="Shape 15"/>
          <p:cNvSpPr/>
          <p:nvPr/>
        </p:nvSpPr>
        <p:spPr>
          <a:xfrm>
            <a:off x="1645920" y="2916936"/>
            <a:ext cx="402336" cy="402336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434" y="3005450"/>
            <a:ext cx="225308" cy="225308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194560" y="2889504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Scaffold the Next.js app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2194560" y="3136392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Drizzle + Supabase Auth wired. Migrations for v0.2 schema. Healthy `npm run dev`.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731520" y="3529584"/>
            <a:ext cx="10698480" cy="603504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31520" y="3529584"/>
            <a:ext cx="731520" cy="60350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31520" y="3529584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700" dirty="0"/>
          </a:p>
        </p:txBody>
      </p:sp>
      <p:sp>
        <p:nvSpPr>
          <p:cNvPr id="25" name="Shape 21"/>
          <p:cNvSpPr/>
          <p:nvPr/>
        </p:nvSpPr>
        <p:spPr>
          <a:xfrm>
            <a:off x="1645920" y="3630168"/>
            <a:ext cx="402336" cy="402336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434" y="3718682"/>
            <a:ext cx="225308" cy="22530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194560" y="3602736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the landing page first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2194560" y="3849624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Brand-correct waitlist for both contractors and subs. Starts capturing interest while we build.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31520" y="4242816"/>
            <a:ext cx="10698480" cy="603504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1520" y="4242816"/>
            <a:ext cx="731520" cy="60350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31520" y="4242816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700" dirty="0"/>
          </a:p>
        </p:txBody>
      </p:sp>
      <p:sp>
        <p:nvSpPr>
          <p:cNvPr id="32" name="Shape 27"/>
          <p:cNvSpPr/>
          <p:nvPr/>
        </p:nvSpPr>
        <p:spPr>
          <a:xfrm>
            <a:off x="1645920" y="4343400"/>
            <a:ext cx="402336" cy="402336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434" y="4431914"/>
            <a:ext cx="225308" cy="22530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194560" y="4315968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 onboarding + verification</a:t>
            </a:r>
            <a:endParaRPr lang="en-US" sz="1300" dirty="0"/>
          </a:p>
        </p:txBody>
      </p:sp>
      <p:sp>
        <p:nvSpPr>
          <p:cNvPr id="35" name="Text 29"/>
          <p:cNvSpPr/>
          <p:nvPr/>
        </p:nvSpPr>
        <p:spPr>
          <a:xfrm>
            <a:off x="2194560" y="4562856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Contractor + sub flows. Admin verification queue. Manual ops while operating-team finds first 50 subs.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731520" y="4956048"/>
            <a:ext cx="10698480" cy="603504"/>
          </a:xfrm>
          <a:prstGeom prst="rect">
            <a:avLst/>
          </a:prstGeom>
          <a:solidFill>
            <a:srgbClr val="162542"/>
          </a:solidFill>
          <a:ln w="9525">
            <a:solidFill>
              <a:srgbClr val="2A3B66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31520" y="4956048"/>
            <a:ext cx="731520" cy="603504"/>
          </a:xfrm>
          <a:prstGeom prst="rect">
            <a:avLst/>
          </a:prstGeom>
          <a:solidFill>
            <a:srgbClr val="F8BC0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731520" y="4956048"/>
            <a:ext cx="731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15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700" dirty="0"/>
          </a:p>
        </p:txBody>
      </p:sp>
      <p:sp>
        <p:nvSpPr>
          <p:cNvPr id="39" name="Shape 33"/>
          <p:cNvSpPr/>
          <p:nvPr/>
        </p:nvSpPr>
        <p:spPr>
          <a:xfrm>
            <a:off x="1645920" y="5056632"/>
            <a:ext cx="402336" cy="402336"/>
          </a:xfrm>
          <a:prstGeom prst="ellipse">
            <a:avLst/>
          </a:prstGeom>
          <a:solidFill>
            <a:srgbClr val="1F3056"/>
          </a:solidFill>
          <a:ln w="15875">
            <a:solidFill>
              <a:srgbClr val="F8BC01"/>
            </a:solidFill>
            <a:prstDash val="solid"/>
          </a:ln>
        </p:spPr>
      </p:sp>
      <p:pic>
        <p:nvPicPr>
          <p:cNvPr id="4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34434" y="5145146"/>
            <a:ext cx="225308" cy="225308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2194560" y="5029200"/>
            <a:ext cx="9052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Soft launch to launch metro</a:t>
            </a:r>
            <a:endParaRPr lang="en-US" sz="1300" dirty="0"/>
          </a:p>
        </p:txBody>
      </p:sp>
      <p:sp>
        <p:nvSpPr>
          <p:cNvPr id="42" name="Text 35"/>
          <p:cNvSpPr/>
          <p:nvPr/>
        </p:nvSpPr>
        <p:spPr>
          <a:xfrm>
            <a:off x="2194560" y="5276088"/>
            <a:ext cx="9052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5CCD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Dallas, Atlanta, or Phoenix — chosen by Executive Roof Coach client density.</a:t>
            </a:r>
            <a:endParaRPr lang="en-US" sz="1050" dirty="0"/>
          </a:p>
        </p:txBody>
      </p:sp>
      <p:sp>
        <p:nvSpPr>
          <p:cNvPr id="43" name="Text 36"/>
          <p:cNvSpPr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spc="200" kern="0" dirty="0">
                <a:solidFill>
                  <a:srgbClr val="F8BC0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BRAND.   ONE STANDARD.   ONE MISSION.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548640" y="6355080"/>
            <a:ext cx="11064240" cy="0"/>
          </a:xfrm>
          <a:prstGeom prst="line">
            <a:avLst/>
          </a:prstGeom>
          <a:noFill/>
          <a:ln w="9525">
            <a:solidFill>
              <a:srgbClr val="2A3B66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TRUSTED</a:t>
            </a:r>
            <a:pPr indent="0" marL="0">
              <a:buNone/>
            </a:pPr>
            <a:r>
              <a:rPr lang="en-US" sz="900" spc="400" kern="0" dirty="0">
                <a:solidFill>
                  <a:srgbClr val="2A3B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·  </a:t>
            </a:r>
            <a:pPr indent="0" marL="0">
              <a:buNone/>
            </a:pPr>
            <a:r>
              <a:rPr lang="en-US" sz="900" spc="400" kern="0" dirty="0">
                <a:solidFill>
                  <a:srgbClr val="8B96A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PERFORMANCE-DRIVEN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8138160" y="64465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300" kern="0" dirty="0">
                <a:solidFill>
                  <a:srgbClr val="F8BC0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  NEXT STEPS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SubConnects · Build Progress Review</dc:title>
  <dc:subject>PptxGenJS Presentation</dc:subject>
  <dc:creator>SubConnects</dc:creator>
  <cp:lastModifiedBy>SubConnects</cp:lastModifiedBy>
  <cp:revision>1</cp:revision>
  <dcterms:created xsi:type="dcterms:W3CDTF">2026-05-15T13:23:03Z</dcterms:created>
  <dcterms:modified xsi:type="dcterms:W3CDTF">2026-05-15T13:23:03Z</dcterms:modified>
</cp:coreProperties>
</file>